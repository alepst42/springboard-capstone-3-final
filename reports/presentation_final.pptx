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29"/>
  </p:notesMasterIdLst>
  <p:sldIdLst>
    <p:sldId id="256" r:id="rId2"/>
    <p:sldId id="300" r:id="rId3"/>
    <p:sldId id="299" r:id="rId4"/>
    <p:sldId id="301" r:id="rId5"/>
    <p:sldId id="267" r:id="rId6"/>
    <p:sldId id="270" r:id="rId7"/>
    <p:sldId id="272" r:id="rId8"/>
    <p:sldId id="273" r:id="rId9"/>
    <p:sldId id="274" r:id="rId10"/>
    <p:sldId id="275" r:id="rId11"/>
    <p:sldId id="278" r:id="rId12"/>
    <p:sldId id="297" r:id="rId13"/>
    <p:sldId id="283" r:id="rId14"/>
    <p:sldId id="302" r:id="rId15"/>
    <p:sldId id="284" r:id="rId16"/>
    <p:sldId id="285" r:id="rId17"/>
    <p:sldId id="286" r:id="rId18"/>
    <p:sldId id="303" r:id="rId19"/>
    <p:sldId id="298" r:id="rId20"/>
    <p:sldId id="289" r:id="rId21"/>
    <p:sldId id="287" r:id="rId22"/>
    <p:sldId id="288" r:id="rId23"/>
    <p:sldId id="296" r:id="rId24"/>
    <p:sldId id="292" r:id="rId25"/>
    <p:sldId id="293" r:id="rId26"/>
    <p:sldId id="294" r:id="rId27"/>
    <p:sldId id="29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D9295-504A-4787-84F4-D245A068512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236A8-BE36-44CE-969D-3A5297BCC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7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236A8-BE36-44CE-969D-3A5297BCCD0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51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203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289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9162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710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245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625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903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469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44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16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620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407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1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424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211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042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0486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61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671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393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83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455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0297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8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445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973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35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DC3FD369-3301-414F-8038-C16EEED9BB8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01490EAD-2A92-430B-A660-D4E7797DFE3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1860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8231A2-ED9C-47AB-15B3-C9E3473D0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556000"/>
            <a:ext cx="9299448" cy="2900216"/>
          </a:xfrm>
        </p:spPr>
        <p:txBody>
          <a:bodyPr anchor="t"/>
          <a:lstStyle/>
          <a:p>
            <a:r>
              <a:rPr lang="en-US" sz="4000" dirty="0"/>
              <a:t>Consumer archetypes in public data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Alanna Epstein, 10-16-2026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1C08D1-1878-8B9F-F72C-4BA3F489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170817"/>
            <a:ext cx="11238914" cy="2385184"/>
          </a:xfrm>
        </p:spPr>
        <p:txBody>
          <a:bodyPr/>
          <a:lstStyle/>
          <a:p>
            <a:r>
              <a:rPr lang="en-US" dirty="0"/>
              <a:t>Trusted sources for messaging</a:t>
            </a:r>
          </a:p>
        </p:txBody>
      </p:sp>
    </p:spTree>
    <p:extLst>
      <p:ext uri="{BB962C8B-B14F-4D97-AF65-F5344CB8AC3E}">
        <p14:creationId xmlns:p14="http://schemas.microsoft.com/office/powerpoint/2010/main" val="76865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FDCF5-0FA2-4330-4972-7C8FFF87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Trusted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6829C-CB9C-4B08-6A73-0C772C0DB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Suitable for advertising, political messages</a:t>
            </a:r>
          </a:p>
          <a:p>
            <a:r>
              <a:rPr lang="en-US" sz="2000" dirty="0"/>
              <a:t>How much confidence, if any, do you have in each of the following to act in the best interests of the public?</a:t>
            </a:r>
          </a:p>
          <a:p>
            <a:pPr lvl="1"/>
            <a:r>
              <a:rPr lang="en-US" sz="1800" dirty="0"/>
              <a:t>Elected officials</a:t>
            </a:r>
          </a:p>
          <a:p>
            <a:pPr lvl="1"/>
            <a:r>
              <a:rPr lang="en-US" sz="1800" dirty="0"/>
              <a:t>Journalists</a:t>
            </a:r>
          </a:p>
          <a:p>
            <a:pPr lvl="1"/>
            <a:r>
              <a:rPr lang="en-US" sz="1800" dirty="0"/>
              <a:t>The military</a:t>
            </a:r>
          </a:p>
          <a:p>
            <a:pPr lvl="1"/>
            <a:r>
              <a:rPr lang="en-US" sz="1800" dirty="0"/>
              <a:t>Religious leaders</a:t>
            </a:r>
          </a:p>
          <a:p>
            <a:pPr lvl="1"/>
            <a:r>
              <a:rPr lang="en-US" sz="1800" dirty="0"/>
              <a:t>Public school principals</a:t>
            </a:r>
          </a:p>
          <a:p>
            <a:pPr lvl="1"/>
            <a:r>
              <a:rPr lang="en-US" sz="1800" dirty="0"/>
              <a:t>Police officers</a:t>
            </a:r>
          </a:p>
          <a:p>
            <a:r>
              <a:rPr lang="en-US" sz="2000" dirty="0"/>
              <a:t>Unsupervised learning models (cluster analyses) gives more detail than averages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3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BF2341-4389-0178-D3B8-4E86925D3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454143"/>
              </p:ext>
            </p:extLst>
          </p:nvPr>
        </p:nvGraphicFramePr>
        <p:xfrm>
          <a:off x="992554" y="757520"/>
          <a:ext cx="10206891" cy="534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2297">
                  <a:extLst>
                    <a:ext uri="{9D8B030D-6E8A-4147-A177-3AD203B41FA5}">
                      <a16:colId xmlns:a16="http://schemas.microsoft.com/office/drawing/2014/main" val="4084160708"/>
                    </a:ext>
                  </a:extLst>
                </a:gridCol>
                <a:gridCol w="3402297">
                  <a:extLst>
                    <a:ext uri="{9D8B030D-6E8A-4147-A177-3AD203B41FA5}">
                      <a16:colId xmlns:a16="http://schemas.microsoft.com/office/drawing/2014/main" val="4040466427"/>
                    </a:ext>
                  </a:extLst>
                </a:gridCol>
                <a:gridCol w="3402297">
                  <a:extLst>
                    <a:ext uri="{9D8B030D-6E8A-4147-A177-3AD203B41FA5}">
                      <a16:colId xmlns:a16="http://schemas.microsoft.com/office/drawing/2014/main" val="1855092592"/>
                    </a:ext>
                  </a:extLst>
                </a:gridCol>
              </a:tblGrid>
              <a:tr h="534296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304878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/>
                        <a:t>Liberals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88949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 dirty="0"/>
                        <a:t>Conservatives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70141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12162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 dirty="0"/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899389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/>
                        <a:t>Women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39071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302631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 dirty="0"/>
                        <a:t>College+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542691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/>
                        <a:t>Some college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418735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H.S. or 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88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87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2366D-9B53-2E7C-0105-D8A0B0BC7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9AD97B-0205-FACE-E15D-7823377F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 and Quality</a:t>
            </a:r>
          </a:p>
        </p:txBody>
      </p:sp>
    </p:spTree>
    <p:extLst>
      <p:ext uri="{BB962C8B-B14F-4D97-AF65-F5344CB8AC3E}">
        <p14:creationId xmlns:p14="http://schemas.microsoft.com/office/powerpoint/2010/main" val="272003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035192-2F4A-D31E-CD6B-AC052EC4D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312" y="310161"/>
            <a:ext cx="9465376" cy="623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4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8E70F0-3456-CB32-5149-A3CF4F1CFDA6}"/>
              </a:ext>
            </a:extLst>
          </p:cNvPr>
          <p:cNvGrpSpPr/>
          <p:nvPr/>
        </p:nvGrpSpPr>
        <p:grpSpPr>
          <a:xfrm>
            <a:off x="1883770" y="494326"/>
            <a:ext cx="8424461" cy="5453182"/>
            <a:chOff x="2087231" y="900726"/>
            <a:chExt cx="8017538" cy="505654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B4FD3EB-395F-BE80-FAB1-739390C29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7231" y="900726"/>
              <a:ext cx="8017538" cy="505654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0ACB5EF-7E29-CB62-EAB4-DF5D12D6A832}"/>
                </a:ext>
              </a:extLst>
            </p:cNvPr>
            <p:cNvCxnSpPr/>
            <p:nvPr/>
          </p:nvCxnSpPr>
          <p:spPr>
            <a:xfrm>
              <a:off x="3524738" y="3040185"/>
              <a:ext cx="185224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F5B1364-7F07-A5BF-A408-28C2B4E82530}"/>
                </a:ext>
              </a:extLst>
            </p:cNvPr>
            <p:cNvCxnSpPr>
              <a:cxnSpLocks/>
            </p:cNvCxnSpPr>
            <p:nvPr/>
          </p:nvCxnSpPr>
          <p:spPr>
            <a:xfrm>
              <a:off x="6185876" y="3040185"/>
              <a:ext cx="41812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DE4DED-C17D-F457-49AE-00FC3CBD1865}"/>
                </a:ext>
              </a:extLst>
            </p:cNvPr>
            <p:cNvCxnSpPr>
              <a:cxnSpLocks/>
            </p:cNvCxnSpPr>
            <p:nvPr/>
          </p:nvCxnSpPr>
          <p:spPr>
            <a:xfrm>
              <a:off x="6662615" y="5060462"/>
              <a:ext cx="130126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849C501-3D98-CFA6-E22C-B06380018156}"/>
                </a:ext>
              </a:extLst>
            </p:cNvPr>
            <p:cNvCxnSpPr>
              <a:cxnSpLocks/>
            </p:cNvCxnSpPr>
            <p:nvPr/>
          </p:nvCxnSpPr>
          <p:spPr>
            <a:xfrm>
              <a:off x="8346830" y="5060462"/>
              <a:ext cx="114104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7A09C1-74A9-DA61-C7C7-7A9FA5E16296}"/>
                </a:ext>
              </a:extLst>
            </p:cNvPr>
            <p:cNvCxnSpPr>
              <a:cxnSpLocks/>
            </p:cNvCxnSpPr>
            <p:nvPr/>
          </p:nvCxnSpPr>
          <p:spPr>
            <a:xfrm>
              <a:off x="2262554" y="5337908"/>
              <a:ext cx="59006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235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C44D0B7-E6E8-D49C-4925-BB670C75868B}"/>
              </a:ext>
            </a:extLst>
          </p:cNvPr>
          <p:cNvGrpSpPr/>
          <p:nvPr/>
        </p:nvGrpSpPr>
        <p:grpSpPr>
          <a:xfrm>
            <a:off x="721094" y="1831757"/>
            <a:ext cx="10749812" cy="3194485"/>
            <a:chOff x="2157990" y="2258755"/>
            <a:chExt cx="7876020" cy="234049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6103FA7-845D-C7F0-0D1A-E06416F13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7990" y="2258755"/>
              <a:ext cx="7876020" cy="2340490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1AB3840-B638-232B-3960-B50FB044EB1E}"/>
                </a:ext>
              </a:extLst>
            </p:cNvPr>
            <p:cNvCxnSpPr>
              <a:cxnSpLocks/>
            </p:cNvCxnSpPr>
            <p:nvPr/>
          </p:nvCxnSpPr>
          <p:spPr>
            <a:xfrm>
              <a:off x="4064000" y="3188677"/>
              <a:ext cx="579901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2D79DE0-46A5-275E-206F-BD18013044DB}"/>
                </a:ext>
              </a:extLst>
            </p:cNvPr>
            <p:cNvCxnSpPr>
              <a:cxnSpLocks/>
            </p:cNvCxnSpPr>
            <p:nvPr/>
          </p:nvCxnSpPr>
          <p:spPr>
            <a:xfrm>
              <a:off x="2246924" y="3432908"/>
              <a:ext cx="419295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2193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6BC3053-C4BF-1E5D-8979-E04BD895CA85}"/>
              </a:ext>
            </a:extLst>
          </p:cNvPr>
          <p:cNvGrpSpPr/>
          <p:nvPr/>
        </p:nvGrpSpPr>
        <p:grpSpPr>
          <a:xfrm>
            <a:off x="1380411" y="2189436"/>
            <a:ext cx="9431179" cy="2479128"/>
            <a:chOff x="2182483" y="2400273"/>
            <a:chExt cx="7827033" cy="20574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8770632-4AFA-FB97-FADB-EC66A15EF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2483" y="2400273"/>
              <a:ext cx="7827033" cy="2057454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BCC72B3-8518-01E6-E6C7-0AEA486CA7B1}"/>
                </a:ext>
              </a:extLst>
            </p:cNvPr>
            <p:cNvCxnSpPr>
              <a:cxnSpLocks/>
            </p:cNvCxnSpPr>
            <p:nvPr/>
          </p:nvCxnSpPr>
          <p:spPr>
            <a:xfrm>
              <a:off x="4564184" y="3587261"/>
              <a:ext cx="329027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4942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877270F-2496-4F7D-4AF4-96E1710FF0CC}"/>
              </a:ext>
            </a:extLst>
          </p:cNvPr>
          <p:cNvGrpSpPr/>
          <p:nvPr/>
        </p:nvGrpSpPr>
        <p:grpSpPr>
          <a:xfrm>
            <a:off x="1308235" y="2431677"/>
            <a:ext cx="9575529" cy="2218476"/>
            <a:chOff x="2196091" y="2525462"/>
            <a:chExt cx="7799818" cy="180707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E634B4E-8FA8-ECEB-B22D-3CA54F994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6091" y="2525462"/>
              <a:ext cx="7799818" cy="1807076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30115B0-02E6-029A-451E-E92F0DDC1E74}"/>
                </a:ext>
              </a:extLst>
            </p:cNvPr>
            <p:cNvCxnSpPr>
              <a:cxnSpLocks/>
            </p:cNvCxnSpPr>
            <p:nvPr/>
          </p:nvCxnSpPr>
          <p:spPr>
            <a:xfrm>
              <a:off x="3641969" y="4001477"/>
              <a:ext cx="282135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4904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814790E-60C8-C68D-BA4B-4101D627B496}"/>
              </a:ext>
            </a:extLst>
          </p:cNvPr>
          <p:cNvGrpSpPr/>
          <p:nvPr/>
        </p:nvGrpSpPr>
        <p:grpSpPr>
          <a:xfrm>
            <a:off x="2410246" y="1562138"/>
            <a:ext cx="7371509" cy="3322477"/>
            <a:chOff x="3445259" y="2234261"/>
            <a:chExt cx="5301482" cy="238947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57C8AFB-3CF6-1735-644D-C2CE6CEE3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5259" y="2234261"/>
              <a:ext cx="5301482" cy="2389477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2350803-EB46-FB6F-4D70-D64B7739BD7A}"/>
                </a:ext>
              </a:extLst>
            </p:cNvPr>
            <p:cNvCxnSpPr>
              <a:cxnSpLocks/>
            </p:cNvCxnSpPr>
            <p:nvPr/>
          </p:nvCxnSpPr>
          <p:spPr>
            <a:xfrm>
              <a:off x="3602892" y="3079261"/>
              <a:ext cx="466578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4885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0D5B8B-C833-37A6-9E76-53FCC0AEB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83" y="2264198"/>
            <a:ext cx="5568189" cy="3929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9DC417-88BE-B7F3-81B7-613F1D6437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747"/>
          <a:stretch>
            <a:fillRect/>
          </a:stretch>
        </p:blipFill>
        <p:spPr>
          <a:xfrm>
            <a:off x="6779533" y="2264198"/>
            <a:ext cx="2634412" cy="133225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848FC34-3A0B-6AAB-551B-BEF1A14C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per row</a:t>
            </a:r>
          </a:p>
        </p:txBody>
      </p:sp>
    </p:spTree>
    <p:extLst>
      <p:ext uri="{BB962C8B-B14F-4D97-AF65-F5344CB8AC3E}">
        <p14:creationId xmlns:p14="http://schemas.microsoft.com/office/powerpoint/2010/main" val="569867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4EAFB-6F90-BFD8-9C0F-E0AC8AE1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per column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97FBD-AA5E-30F8-1E4D-BDFDF437C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62" y="2142968"/>
            <a:ext cx="5502873" cy="39788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784497-D09F-F9D5-9775-0778E76F38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60" r="20709"/>
          <a:stretch>
            <a:fillRect/>
          </a:stretch>
        </p:blipFill>
        <p:spPr>
          <a:xfrm>
            <a:off x="6650510" y="2142968"/>
            <a:ext cx="1946412" cy="135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1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3501B8-68DC-52AD-B65B-D7D4673E5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704" y="2180927"/>
            <a:ext cx="5693377" cy="415300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730EC31-0304-24CD-C1D9-3166BA08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 and quality</a:t>
            </a:r>
          </a:p>
        </p:txBody>
      </p:sp>
    </p:spTree>
    <p:extLst>
      <p:ext uri="{BB962C8B-B14F-4D97-AF65-F5344CB8AC3E}">
        <p14:creationId xmlns:p14="http://schemas.microsoft.com/office/powerpoint/2010/main" val="1171601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7520-9555-C954-0977-16D9142E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2A8E22-B758-5495-F34D-72983974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exploration</a:t>
            </a:r>
          </a:p>
        </p:txBody>
      </p:sp>
    </p:spTree>
    <p:extLst>
      <p:ext uri="{BB962C8B-B14F-4D97-AF65-F5344CB8AC3E}">
        <p14:creationId xmlns:p14="http://schemas.microsoft.com/office/powerpoint/2010/main" val="2580051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954940-293F-20F0-95B9-388540145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7" y="1348153"/>
            <a:ext cx="4947449" cy="514643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A00CC3-3146-AE6C-316E-43CA1DFC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306907"/>
              </p:ext>
            </p:extLst>
          </p:nvPr>
        </p:nvGraphicFramePr>
        <p:xfrm>
          <a:off x="6543002" y="1418491"/>
          <a:ext cx="3742044" cy="1302948"/>
        </p:xfrm>
        <a:graphic>
          <a:graphicData uri="http://schemas.openxmlformats.org/drawingml/2006/table">
            <a:tbl>
              <a:tblPr/>
              <a:tblGrid>
                <a:gridCol w="555174">
                  <a:extLst>
                    <a:ext uri="{9D8B030D-6E8A-4147-A177-3AD203B41FA5}">
                      <a16:colId xmlns:a16="http://schemas.microsoft.com/office/drawing/2014/main" val="144192502"/>
                    </a:ext>
                  </a:extLst>
                </a:gridCol>
                <a:gridCol w="3186870">
                  <a:extLst>
                    <a:ext uri="{9D8B030D-6E8A-4147-A177-3AD203B41FA5}">
                      <a16:colId xmlns:a16="http://schemas.microsoft.com/office/drawing/2014/main" val="2286847380"/>
                    </a:ext>
                  </a:extLst>
                </a:gridCol>
              </a:tblGrid>
              <a:tr h="3257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4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great deal of confidence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18728"/>
                  </a:ext>
                </a:extLst>
              </a:tr>
              <a:tr h="3257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fair amount of confidence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22779"/>
                  </a:ext>
                </a:extLst>
              </a:tr>
              <a:tr h="3257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Not too much confidence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57838"/>
                  </a:ext>
                </a:extLst>
              </a:tr>
              <a:tr h="3257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 confidence at all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172557"/>
                  </a:ext>
                </a:extLst>
              </a:tr>
            </a:tbl>
          </a:graphicData>
        </a:graphic>
      </p:graphicFrame>
      <p:sp>
        <p:nvSpPr>
          <p:cNvPr id="7" name="Title 3">
            <a:extLst>
              <a:ext uri="{FF2B5EF4-FFF2-40B4-BE49-F238E27FC236}">
                <a16:creationId xmlns:a16="http://schemas.microsoft.com/office/drawing/2014/main" id="{02653339-0B5B-20B2-2F75-7A16F12F3E99}"/>
              </a:ext>
            </a:extLst>
          </p:cNvPr>
          <p:cNvSpPr txBox="1">
            <a:spLocks/>
          </p:cNvSpPr>
          <p:nvPr/>
        </p:nvSpPr>
        <p:spPr>
          <a:xfrm>
            <a:off x="328374" y="487602"/>
            <a:ext cx="11253668" cy="11064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Average confidence in sources</a:t>
            </a:r>
          </a:p>
        </p:txBody>
      </p:sp>
    </p:spTree>
    <p:extLst>
      <p:ext uri="{BB962C8B-B14F-4D97-AF65-F5344CB8AC3E}">
        <p14:creationId xmlns:p14="http://schemas.microsoft.com/office/powerpoint/2010/main" val="1744932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33C072-09D9-B52B-241E-D1367324B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255" y="404445"/>
            <a:ext cx="7571490" cy="585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1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27CC8F-7103-6917-98EE-A5DCFF156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479" y="313001"/>
            <a:ext cx="7593043" cy="56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64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5843C-A785-BD19-AA4C-0590C37D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64BA-E36D-443C-385C-056EF1F4D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 cluster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E28D5-B45F-756F-324A-54752FBF3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Average levels may mask important subgroup differences</a:t>
            </a:r>
          </a:p>
          <a:p>
            <a:r>
              <a:rPr lang="en-US" sz="2400" dirty="0"/>
              <a:t>Usefulness of “archetypes”</a:t>
            </a:r>
          </a:p>
        </p:txBody>
      </p:sp>
    </p:spTree>
    <p:extLst>
      <p:ext uri="{BB962C8B-B14F-4D97-AF65-F5344CB8AC3E}">
        <p14:creationId xmlns:p14="http://schemas.microsoft.com/office/powerpoint/2010/main" val="1161818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9385-20B0-F72A-07F7-268F69894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 cluster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389F8-DD09-1475-7D3D-E90C6BC8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Compared 3 methods:</a:t>
            </a:r>
          </a:p>
          <a:p>
            <a:pPr lvl="1"/>
            <a:r>
              <a:rPr lang="en-US" dirty="0"/>
              <a:t>K-means</a:t>
            </a:r>
          </a:p>
          <a:p>
            <a:pPr lvl="1"/>
            <a:r>
              <a:rPr lang="en-US" dirty="0" err="1"/>
              <a:t>DBScan</a:t>
            </a:r>
            <a:endParaRPr lang="en-US" dirty="0"/>
          </a:p>
          <a:p>
            <a:pPr lvl="1"/>
            <a:r>
              <a:rPr lang="en-US" dirty="0"/>
              <a:t>Hierarchical agglomerative</a:t>
            </a:r>
          </a:p>
          <a:p>
            <a:pPr lvl="1"/>
            <a:endParaRPr lang="en-US" dirty="0"/>
          </a:p>
          <a:p>
            <a:r>
              <a:rPr lang="en-US" dirty="0"/>
              <a:t>Assessed overall fit after selecting best cluster solution:</a:t>
            </a:r>
          </a:p>
          <a:p>
            <a:pPr lvl="1"/>
            <a:r>
              <a:rPr lang="en-US" dirty="0"/>
              <a:t>Smallest cluster</a:t>
            </a:r>
          </a:p>
          <a:p>
            <a:pPr lvl="1"/>
            <a:r>
              <a:rPr lang="en-US" dirty="0"/>
              <a:t>Largest cluster</a:t>
            </a:r>
          </a:p>
          <a:p>
            <a:pPr lvl="1"/>
            <a:r>
              <a:rPr lang="en-US" dirty="0"/>
              <a:t>Silhouette</a:t>
            </a:r>
          </a:p>
          <a:p>
            <a:pPr lvl="1"/>
            <a:r>
              <a:rPr lang="en-US" dirty="0"/>
              <a:t>Davies-Bouldin</a:t>
            </a:r>
          </a:p>
          <a:p>
            <a:pPr lvl="1"/>
            <a:r>
              <a:rPr lang="en-US" dirty="0" err="1"/>
              <a:t>Calinski-Harabasz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35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1AB935-6D13-3F03-666C-2274929AA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77" y="2361695"/>
            <a:ext cx="10097323" cy="346322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3D24B5F-DE4E-5810-48B0-6E6600B10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model selection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A30951-C592-F802-30C4-6F5465A411F5}"/>
              </a:ext>
            </a:extLst>
          </p:cNvPr>
          <p:cNvSpPr/>
          <p:nvPr/>
        </p:nvSpPr>
        <p:spPr>
          <a:xfrm>
            <a:off x="8690708" y="2469662"/>
            <a:ext cx="1922584" cy="37756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23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9AE7E4-EB44-2D4B-A9C0-5242FF611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456" y="295030"/>
            <a:ext cx="6735089" cy="62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71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A7F269-E3B2-1675-C94C-D4D58CB95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673" y="736847"/>
            <a:ext cx="7990655" cy="538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63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B056-3037-1A11-6A30-9FC57063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81AD1CE-5EDC-F774-247B-19DDB4705D5E}"/>
              </a:ext>
            </a:extLst>
          </p:cNvPr>
          <p:cNvGrpSpPr/>
          <p:nvPr/>
        </p:nvGrpSpPr>
        <p:grpSpPr>
          <a:xfrm>
            <a:off x="866260" y="1059962"/>
            <a:ext cx="10747403" cy="4878752"/>
            <a:chOff x="115983" y="989624"/>
            <a:chExt cx="10747403" cy="487875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080FAA2-13B5-8BE3-9BFD-5B2FCFF39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3007" y="989624"/>
              <a:ext cx="7240379" cy="4878752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5132EA2-F98D-C537-7ACD-5605D8C3A05F}"/>
                </a:ext>
              </a:extLst>
            </p:cNvPr>
            <p:cNvSpPr txBox="1"/>
            <p:nvPr/>
          </p:nvSpPr>
          <p:spPr>
            <a:xfrm>
              <a:off x="1328614" y="1375508"/>
              <a:ext cx="21784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Dislike enforcement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B941609-5A0D-4A67-8418-C65BCAFFDC6A}"/>
                </a:ext>
              </a:extLst>
            </p:cNvPr>
            <p:cNvSpPr txBox="1"/>
            <p:nvPr/>
          </p:nvSpPr>
          <p:spPr>
            <a:xfrm>
              <a:off x="483750" y="2020278"/>
              <a:ext cx="3139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Like journalists and principals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25D060A-F1BD-51E2-D83A-5856211DA4C8}"/>
                </a:ext>
              </a:extLst>
            </p:cNvPr>
            <p:cNvSpPr txBox="1"/>
            <p:nvPr/>
          </p:nvSpPr>
          <p:spPr>
            <a:xfrm>
              <a:off x="2388671" y="2665048"/>
              <a:ext cx="1176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Approving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54D986-E6A8-F5DE-7AD4-98D100C4B2E3}"/>
                </a:ext>
              </a:extLst>
            </p:cNvPr>
            <p:cNvSpPr txBox="1"/>
            <p:nvPr/>
          </p:nvSpPr>
          <p:spPr>
            <a:xfrm>
              <a:off x="115983" y="3309818"/>
              <a:ext cx="3507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Dislike journalists and principals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B421E2-781F-F4FD-908D-7AA7C6D7B95F}"/>
                </a:ext>
              </a:extLst>
            </p:cNvPr>
            <p:cNvSpPr txBox="1"/>
            <p:nvPr/>
          </p:nvSpPr>
          <p:spPr>
            <a:xfrm>
              <a:off x="121722" y="3954588"/>
              <a:ext cx="3507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Like religious and police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8399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618889-CF98-F58D-A718-13A620A68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53929"/>
            <a:ext cx="9144000" cy="495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48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C557A7-86B0-7C62-EE39-0F74EF190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56201"/>
            <a:ext cx="9144000" cy="494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60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C87AA3-3A34-444E-BA7A-2A002362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53929"/>
            <a:ext cx="9144000" cy="495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0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0018F8-B67B-BD89-0C2D-368FFD03F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170049"/>
              </p:ext>
            </p:extLst>
          </p:nvPr>
        </p:nvGraphicFramePr>
        <p:xfrm>
          <a:off x="992554" y="757520"/>
          <a:ext cx="10206891" cy="534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2297">
                  <a:extLst>
                    <a:ext uri="{9D8B030D-6E8A-4147-A177-3AD203B41FA5}">
                      <a16:colId xmlns:a16="http://schemas.microsoft.com/office/drawing/2014/main" val="4084160708"/>
                    </a:ext>
                  </a:extLst>
                </a:gridCol>
                <a:gridCol w="3402297">
                  <a:extLst>
                    <a:ext uri="{9D8B030D-6E8A-4147-A177-3AD203B41FA5}">
                      <a16:colId xmlns:a16="http://schemas.microsoft.com/office/drawing/2014/main" val="4040466427"/>
                    </a:ext>
                  </a:extLst>
                </a:gridCol>
                <a:gridCol w="3402297">
                  <a:extLst>
                    <a:ext uri="{9D8B030D-6E8A-4147-A177-3AD203B41FA5}">
                      <a16:colId xmlns:a16="http://schemas.microsoft.com/office/drawing/2014/main" val="1855092592"/>
                    </a:ext>
                  </a:extLst>
                </a:gridCol>
              </a:tblGrid>
              <a:tr h="534296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304878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/>
                        <a:t>Liberals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Journalists, principals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Enforcement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88949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 dirty="0"/>
                        <a:t>Conservatives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Journalists, principals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Religious, police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70141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12162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 dirty="0"/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Religious, police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899389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/>
                        <a:t>Women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Elected officials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39071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302631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 dirty="0"/>
                        <a:t>College+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Journalists, principals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542691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r>
                        <a:rPr lang="en-US" sz="2400" b="1"/>
                        <a:t>Some college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Elected officials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418735"/>
                  </a:ext>
                </a:extLst>
              </a:tr>
              <a:tr h="534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H.S. or 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88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364156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2845</TotalTime>
  <Words>243</Words>
  <Application>Microsoft Office PowerPoint</Application>
  <PresentationFormat>Widescreen</PresentationFormat>
  <Paragraphs>74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</vt:lpstr>
      <vt:lpstr>Haettenschweiler</vt:lpstr>
      <vt:lpstr>Trade Gothic Next Light</vt:lpstr>
      <vt:lpstr>Editorial</vt:lpstr>
      <vt:lpstr>Consumer archetypes in public data          Alanna Epstein, 10-16-2026</vt:lpstr>
      <vt:lpstr>Trusted sources</vt:lpstr>
      <vt:lpstr>PowerPoint Presentation</vt:lpstr>
      <vt:lpstr>Data Source and Quality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Missing per row</vt:lpstr>
      <vt:lpstr>Missing per column</vt:lpstr>
      <vt:lpstr>Data source and quality</vt:lpstr>
      <vt:lpstr>Data exploration</vt:lpstr>
      <vt:lpstr>PowerPoint Presentation</vt:lpstr>
      <vt:lpstr>PowerPoint Presentation</vt:lpstr>
      <vt:lpstr>PowerPoint Presentation</vt:lpstr>
      <vt:lpstr>Robust cluster analyses</vt:lpstr>
      <vt:lpstr>Robust cluster analyses</vt:lpstr>
      <vt:lpstr>Cluster model selection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Alanna Epstein</dc:creator>
  <cp:lastModifiedBy>Alanna Epstein</cp:lastModifiedBy>
  <cp:revision>11</cp:revision>
  <dcterms:created xsi:type="dcterms:W3CDTF">2026-10-13T15:44:53Z</dcterms:created>
  <dcterms:modified xsi:type="dcterms:W3CDTF">2026-10-16T15:03:50Z</dcterms:modified>
</cp:coreProperties>
</file>